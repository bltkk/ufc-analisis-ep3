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8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55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y presentación del grupo. Tema: qué características distinguen a los peleadores de UFC más exitosos. Mencionar que usamos Python, Plotly y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problema: UFC tiene miles de peleadores con estadísticas físicas y de combate. Queremos descubrir patrones que separen a los exitosos.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limpieza honesta: descartamos 3 columnas con 85-99% de nulos en vez de inventar datos, creamos variables derivadas, agrupamos posturas raras y acotamos pesos atípicos (770 lb).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barras. Switch lidera con 74%, seguido de Southpaw y Orthodox (~70%). La versatilidad de cambiar de guardia da una ventaja moderada. Filtrado a peleadores con 5+ peleas.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líneas. Relación creciente y casi lineal: a mayor peso, mayor alcance. De ~64 pulgadas en ligeros a ~77 en pesados. El peso es buen predictor del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dispersión central. No hay correlación entre volumen y precisión. La mayoría golpea 2-5 veces/min con 40-55% de precisión. Las posturas se mezclan: el estilo depende del peleador.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barras. El KO/TKO es la vía más común (~21%), sobre sumisión (~15%) y decisión (~15%). El golpeo de poder domina el camino a la victoria.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dispersión. Golpear más no implica recibir más (correlación ≈0.20). Bajo la diagonal: peleadores eficientes que conectan más de lo que absorben. La mayoría mantiene intercambio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dashboard: tabla de hallazgos clave que cierra el análisis antes de las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conclusiones: la postura importa poco pero la versatilidad ayuda; el peso predice el alcance; no existe un estilo de golpeo ganador único. El éxito depende del peleador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674543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E85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PARA LA CIENCIA DE DATOS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925476" y="857250"/>
            <a:ext cx="364625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F4F2ED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EVALUACIÓN PARCIAL 3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06500" y="1024930"/>
            <a:ext cx="34290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681" y="4023122"/>
            <a:ext cx="14826834" cy="2240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850" b="1" kern="0" spc="-150" dirty="0">
                <a:solidFill>
                  <a:srgbClr val="F4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Peleadores UFC</a:t>
            </a:r>
            <a:endParaRPr lang="en-US" sz="8850" dirty="0"/>
          </a:p>
        </p:txBody>
      </p:sp>
      <p:sp>
        <p:nvSpPr>
          <p:cNvPr id="7" name="Shape 4"/>
          <p:cNvSpPr/>
          <p:nvPr/>
        </p:nvSpPr>
        <p:spPr>
          <a:xfrm>
            <a:off x="1047750" y="8566299"/>
            <a:ext cx="16192500" cy="9525"/>
          </a:xfrm>
          <a:prstGeom prst="rect">
            <a:avLst/>
          </a:prstGeom>
          <a:solidFill>
            <a:srgbClr val="F4F2ED">
              <a:alpha val="1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047750" y="8840887"/>
            <a:ext cx="387381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F4F2ED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9199562"/>
            <a:ext cx="3873810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4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4.496 peleadores · 30 variables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026546" y="8840887"/>
            <a:ext cx="329986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F4F2ED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6546" y="9199562"/>
            <a:ext cx="3299867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4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Plotly · Git/GitHub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CONTEXTO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30275"/>
            <a:ext cx="17811750" cy="6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Análisis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71563" y="2561579"/>
            <a:ext cx="8654611" cy="1672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30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características físicas y de estilo distinguen a los peleadores de UFC más exitosos?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71563" y="5747327"/>
            <a:ext cx="7456170" cy="1809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Cruzamos atributos físicos —postura, peso, alcance— con métricas de combate —volumen y precisión de golpeo, tipos de victoria— para encontrar patrones que separen a los peleadores ganadores.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531326" y="2616026"/>
            <a:ext cx="737981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8A8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DIMENSIONES DEL ESTUDIO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31326" y="3127127"/>
            <a:ext cx="495275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121801" y="3150939"/>
            <a:ext cx="4365352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Físicas — postura, peso y alcance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531326" y="3709665"/>
            <a:ext cx="495275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121801" y="3733477"/>
            <a:ext cx="5506008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estilo — volumen y precisión de golpeo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531326" y="4292203"/>
            <a:ext cx="495275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121801" y="4316016"/>
            <a:ext cx="5775994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resultado — cómo se gana cada combate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PREPARACIÓN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30275"/>
            <a:ext cx="17811750" cy="6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y Preparación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39776"/>
            <a:ext cx="117348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pasos justificados. La regla: nunca inventar datos para rellenar huecos.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3082726"/>
            <a:ext cx="7953375" cy="3078262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417588" y="3433465"/>
            <a:ext cx="499988" cy="241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88927" y="3433465"/>
            <a:ext cx="719659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Descartar columnas vacías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88927" y="3896940"/>
            <a:ext cx="6738631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columnas con 85–99% de nulos eliminadas: imputarlas sería inventar el grueso de los datos.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286875" y="3082726"/>
            <a:ext cx="7953375" cy="3078262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656713" y="3433465"/>
            <a:ext cx="499988" cy="241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328051" y="3433465"/>
            <a:ext cx="719659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variables derivadas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328051" y="3896940"/>
            <a:ext cx="6738631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completo, total de peleas y </a:t>
            </a:r>
            <a:r>
              <a:rPr lang="en-US" sz="1800" dirty="0">
                <a:solidFill>
                  <a:srgbClr val="5C5E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win_rate </a:t>
            </a:r>
            <a:r>
              <a:rPr lang="en-US" sz="195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evitando dividir por cero.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6446738"/>
            <a:ext cx="7953375" cy="3078262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417588" y="6797476"/>
            <a:ext cx="499988" cy="241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88927" y="6797476"/>
            <a:ext cx="719659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Agrupar posturas raras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88927" y="7260952"/>
            <a:ext cx="6738631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«Open Stance» y «Sideways» (muy poco frecuentes) se unen en «Other».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286875" y="6446738"/>
            <a:ext cx="7953375" cy="3078262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656713" y="6797476"/>
            <a:ext cx="499988" cy="241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328051" y="6797476"/>
            <a:ext cx="719659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Acotar pesos atípicos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328051" y="7260952"/>
            <a:ext cx="6738631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peso de 770 lb (≈349 kg) es un error de captura: se analiza un subconjunto ≤300 lb.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6803008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GRÁFICO 1 · BARRAS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7851"/>
            <a:ext cx="6803008" cy="553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Victorias por Postura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3713940" y="762000"/>
            <a:ext cx="3621559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8A8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peleadores con ≥5 peleas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035721"/>
            <a:ext cx="10291093" cy="7584529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76893" y="4043536"/>
            <a:ext cx="6114467" cy="9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C6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7200" dirty="0"/>
          </a:p>
        </p:txBody>
      </p:sp>
      <p:sp>
        <p:nvSpPr>
          <p:cNvPr id="10" name="Text 5"/>
          <p:cNvSpPr/>
          <p:nvPr/>
        </p:nvSpPr>
        <p:spPr>
          <a:xfrm>
            <a:off x="11776893" y="5015011"/>
            <a:ext cx="611446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— la postura con mayor tasa de victorias</a:t>
            </a:r>
            <a:endParaRPr lang="en-US" sz="1875" dirty="0"/>
          </a:p>
        </p:txBody>
      </p:sp>
      <p:sp>
        <p:nvSpPr>
          <p:cNvPr id="11" name="Shape 6"/>
          <p:cNvSpPr/>
          <p:nvPr/>
        </p:nvSpPr>
        <p:spPr>
          <a:xfrm>
            <a:off x="11776893" y="5629299"/>
            <a:ext cx="5558606" cy="9525"/>
          </a:xfrm>
          <a:prstGeom prst="rect">
            <a:avLst/>
          </a:prstGeom>
          <a:solidFill>
            <a:srgbClr val="15161A">
              <a:alpha val="12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7"/>
          <p:cNvSpPr/>
          <p:nvPr/>
        </p:nvSpPr>
        <p:spPr>
          <a:xfrm>
            <a:off x="11776893" y="5943451"/>
            <a:ext cx="5725364" cy="245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100" dirty="0">
                <a:latin typeface="Arial" pitchFamily="34" charset="0"/>
                <a:ea typeface="Arial" pitchFamily="34" charset="-122"/>
                <a:cs typeface="Arial" pitchFamily="34" charset="-120"/>
              </a:rPr>
              <a:t>witch lidera (~74%), seguido de cerca por Southpaw y Orthodox (~70%). La diferencia es moderada pero consistente: </a:t>
            </a:r>
            <a:r>
              <a:rPr lang="en-US" sz="2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cambiar de guardia vuelve al peleador más impredecible.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5322788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GRÁFICO 2 · LÍNEAS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7851"/>
            <a:ext cx="5322788" cy="553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según el Peso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3865237" y="762000"/>
            <a:ext cx="3470263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8A8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rangos de peso de 20 lb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035721"/>
            <a:ext cx="10291093" cy="7584529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76893" y="4104680"/>
            <a:ext cx="6114467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64″ → 77″</a:t>
            </a:r>
            <a:endParaRPr lang="en-US" sz="6300" dirty="0"/>
          </a:p>
        </p:txBody>
      </p:sp>
      <p:sp>
        <p:nvSpPr>
          <p:cNvPr id="10" name="Text 5"/>
          <p:cNvSpPr/>
          <p:nvPr/>
        </p:nvSpPr>
        <p:spPr>
          <a:xfrm>
            <a:off x="11776893" y="4961805"/>
            <a:ext cx="611446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promedio, de pesos ligeros a pesados</a:t>
            </a:r>
            <a:endParaRPr lang="en-US" sz="1875" dirty="0"/>
          </a:p>
        </p:txBody>
      </p:sp>
      <p:sp>
        <p:nvSpPr>
          <p:cNvPr id="11" name="Shape 6"/>
          <p:cNvSpPr/>
          <p:nvPr/>
        </p:nvSpPr>
        <p:spPr>
          <a:xfrm>
            <a:off x="11776893" y="5576093"/>
            <a:ext cx="5558606" cy="9525"/>
          </a:xfrm>
          <a:prstGeom prst="rect">
            <a:avLst/>
          </a:prstGeom>
          <a:solidFill>
            <a:srgbClr val="15161A">
              <a:alpha val="12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7"/>
          <p:cNvSpPr/>
          <p:nvPr/>
        </p:nvSpPr>
        <p:spPr>
          <a:xfrm>
            <a:off x="11776893" y="5890244"/>
            <a:ext cx="5725364" cy="205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</a:t>
            </a:r>
            <a:r>
              <a:rPr lang="en-US" sz="21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creciente</a:t>
            </a:r>
            <a:r>
              <a:rPr lang="en-US" sz="2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dirty="0">
                <a:latin typeface="Arial" pitchFamily="34" charset="0"/>
                <a:ea typeface="Arial" pitchFamily="34" charset="-122"/>
                <a:cs typeface="Arial" pitchFamily="34" charset="-120"/>
              </a:rPr>
              <a:t>: m</a:t>
            </a:r>
            <a:r>
              <a:rPr lang="en-US" sz="210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 peso implica más alcance. La tendencia es estable, lo que confirma que el peso es un buen predictor del alcance del peleador.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77008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GRÁFICO 3 · DISPERSIÓN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7851"/>
            <a:ext cx="7700826" cy="553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vs. Precisión de Golpeo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3714350" y="762000"/>
            <a:ext cx="3621149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8A8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tamaño = total de peleas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035721"/>
            <a:ext cx="10291093" cy="7584529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1776893" y="4190256"/>
            <a:ext cx="6114467" cy="6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112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patrón dominante</a:t>
            </a:r>
            <a:endParaRPr lang="en-US" sz="4500" dirty="0"/>
          </a:p>
        </p:txBody>
      </p:sp>
      <p:sp>
        <p:nvSpPr>
          <p:cNvPr id="13" name="Text 5"/>
          <p:cNvSpPr/>
          <p:nvPr/>
        </p:nvSpPr>
        <p:spPr>
          <a:xfrm>
            <a:off x="11776893" y="4868416"/>
            <a:ext cx="611446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2–5 golpes/min · 40–55% de precisión</a:t>
            </a:r>
            <a:endParaRPr lang="en-US" sz="1875" dirty="0"/>
          </a:p>
        </p:txBody>
      </p:sp>
      <p:sp>
        <p:nvSpPr>
          <p:cNvPr id="14" name="Shape 6"/>
          <p:cNvSpPr/>
          <p:nvPr/>
        </p:nvSpPr>
        <p:spPr>
          <a:xfrm>
            <a:off x="11776893" y="5482704"/>
            <a:ext cx="5558606" cy="9525"/>
          </a:xfrm>
          <a:prstGeom prst="rect">
            <a:avLst/>
          </a:prstGeom>
          <a:solidFill>
            <a:srgbClr val="15161A">
              <a:alpha val="12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7"/>
          <p:cNvSpPr/>
          <p:nvPr/>
        </p:nvSpPr>
        <p:spPr>
          <a:xfrm>
            <a:off x="11776893" y="5796855"/>
            <a:ext cx="5725364" cy="25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latin typeface="Arial" pitchFamily="34" charset="0"/>
                <a:ea typeface="Arial" pitchFamily="34" charset="-122"/>
                <a:cs typeface="Arial" pitchFamily="34" charset="-120"/>
              </a:rPr>
              <a:t>No hay correlación entre golpear mucho y golpear certero. Las posturas se mezclan sin formar grupos: </a:t>
            </a:r>
            <a:r>
              <a:rPr lang="en-US" sz="2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el estilo depende del peleador individual </a:t>
            </a:r>
            <a:r>
              <a:rPr lang="en-US" sz="2100" dirty="0">
                <a:latin typeface="Arial" pitchFamily="34" charset="0"/>
                <a:ea typeface="Arial" pitchFamily="34" charset="-122"/>
                <a:cs typeface="Arial" pitchFamily="34" charset="-120"/>
              </a:rPr>
              <a:t>, no de su guardia</a:t>
            </a:r>
            <a:r>
              <a:rPr lang="en-US" sz="2100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6734249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GRÁFICO 4 · BARRAS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7851"/>
            <a:ext cx="6734249" cy="553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Ganan los Peleadores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2658279" y="762000"/>
            <a:ext cx="467722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8A8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promedio por tipo de victoria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035721"/>
            <a:ext cx="10291093" cy="7584529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76893" y="3836913"/>
            <a:ext cx="6114467" cy="9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</a:t>
            </a:r>
            <a:endParaRPr lang="en-US" sz="7200" dirty="0"/>
          </a:p>
        </p:txBody>
      </p:sp>
      <p:sp>
        <p:nvSpPr>
          <p:cNvPr id="10" name="Text 5"/>
          <p:cNvSpPr/>
          <p:nvPr/>
        </p:nvSpPr>
        <p:spPr>
          <a:xfrm>
            <a:off x="11776893" y="4808388"/>
            <a:ext cx="611446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forma de victoria más frecuente (~21%)</a:t>
            </a:r>
            <a:endParaRPr lang="en-US" sz="1875" dirty="0"/>
          </a:p>
        </p:txBody>
      </p:sp>
      <p:sp>
        <p:nvSpPr>
          <p:cNvPr id="11" name="Shape 6"/>
          <p:cNvSpPr/>
          <p:nvPr/>
        </p:nvSpPr>
        <p:spPr>
          <a:xfrm>
            <a:off x="11776893" y="5422677"/>
            <a:ext cx="5558606" cy="9525"/>
          </a:xfrm>
          <a:prstGeom prst="rect">
            <a:avLst/>
          </a:prstGeom>
          <a:solidFill>
            <a:srgbClr val="15161A">
              <a:alpha val="12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7"/>
          <p:cNvSpPr/>
          <p:nvPr/>
        </p:nvSpPr>
        <p:spPr>
          <a:xfrm>
            <a:off x="11776893" y="5736828"/>
            <a:ext cx="5725364" cy="3091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latin typeface="Arial" pitchFamily="34" charset="0"/>
                <a:ea typeface="Arial" pitchFamily="34" charset="-122"/>
                <a:cs typeface="Arial" pitchFamily="34" charset="-120"/>
              </a:rPr>
              <a:t>El nocaut domina sobre sumisión y decisión, casi empatadas (~15%). Conviven </a:t>
            </a:r>
            <a:r>
              <a:rPr lang="en-US" sz="2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dos perfiles </a:t>
            </a:r>
            <a:r>
              <a:rPr lang="en-US" sz="2100" dirty="0">
                <a:latin typeface="Arial" pitchFamily="34" charset="0"/>
                <a:ea typeface="Arial" pitchFamily="34" charset="-122"/>
                <a:cs typeface="Arial" pitchFamily="34" charset="-120"/>
              </a:rPr>
              <a:t>: especialistas de suelo que buscan la rendición y peleadores que llevan el combate a los puntos.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814475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GRÁFICO 5 · DISPERSIÓN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7851"/>
            <a:ext cx="8144755" cy="553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Golpes Conectados vs. Absorbidos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2809165" y="762000"/>
            <a:ext cx="4526334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8A8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= equilibrio dar/recibir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035721"/>
            <a:ext cx="10291093" cy="7584529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75" y="2035596"/>
            <a:ext cx="9894094" cy="718753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0937" y="2234158"/>
            <a:ext cx="9894094" cy="718753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1776893" y="4104680"/>
            <a:ext cx="6114467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≈ 0,20</a:t>
            </a:r>
            <a:endParaRPr lang="en-US" sz="6300" dirty="0"/>
          </a:p>
        </p:txBody>
      </p:sp>
      <p:sp>
        <p:nvSpPr>
          <p:cNvPr id="13" name="Text 5"/>
          <p:cNvSpPr/>
          <p:nvPr/>
        </p:nvSpPr>
        <p:spPr>
          <a:xfrm>
            <a:off x="11776893" y="4961805"/>
            <a:ext cx="611446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débil entre dar y recibir</a:t>
            </a:r>
            <a:endParaRPr lang="en-US" sz="1875" dirty="0"/>
          </a:p>
        </p:txBody>
      </p:sp>
      <p:sp>
        <p:nvSpPr>
          <p:cNvPr id="14" name="Shape 6"/>
          <p:cNvSpPr/>
          <p:nvPr/>
        </p:nvSpPr>
        <p:spPr>
          <a:xfrm>
            <a:off x="11776893" y="5576093"/>
            <a:ext cx="5558606" cy="9525"/>
          </a:xfrm>
          <a:prstGeom prst="rect">
            <a:avLst/>
          </a:prstGeom>
          <a:solidFill>
            <a:srgbClr val="15161A">
              <a:alpha val="12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7"/>
          <p:cNvSpPr/>
          <p:nvPr/>
        </p:nvSpPr>
        <p:spPr>
          <a:xfrm>
            <a:off x="11776893" y="5890244"/>
            <a:ext cx="5725364" cy="2385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latin typeface="Arial" pitchFamily="34" charset="0"/>
                <a:ea typeface="Arial" pitchFamily="34" charset="-122"/>
                <a:cs typeface="Arial" pitchFamily="34" charset="-120"/>
              </a:rPr>
              <a:t>Golpear mucho no implica recibir mucho. Bajo la diagonal están los perfiles </a:t>
            </a:r>
            <a:r>
              <a:rPr lang="en-US" sz="2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eficientes </a:t>
            </a:r>
            <a:r>
              <a:rPr lang="en-US" sz="2100" dirty="0">
                <a:latin typeface="Arial" pitchFamily="34" charset="0"/>
                <a:ea typeface="Arial" pitchFamily="34" charset="-122"/>
                <a:cs typeface="Arial" pitchFamily="34" charset="-120"/>
              </a:rPr>
              <a:t>que conectan más de lo que absorben; la mayoría mantiene un intercambio controlado.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SÍNTESIS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30275"/>
            <a:ext cx="17811750" cy="6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Clave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87451"/>
            <a:ext cx="16192500" cy="5069334"/>
          </a:xfrm>
          <a:prstGeom prst="roundRect">
            <a:avLst>
              <a:gd name="adj" fmla="val 2255"/>
            </a:avLst>
          </a:prstGeom>
          <a:solidFill>
            <a:srgbClr val="FFFFFF"/>
          </a:solidFill>
          <a:ln w="7937">
            <a:solidFill>
              <a:srgbClr val="15161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055687" y="2395389"/>
            <a:ext cx="16176624" cy="720576"/>
          </a:xfrm>
          <a:prstGeom prst="rect">
            <a:avLst/>
          </a:prstGeom>
          <a:solidFill>
            <a:srgbClr val="1516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398587" y="2604939"/>
            <a:ext cx="9033613" cy="339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F4F2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HALLAZGO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34911" y="2604939"/>
            <a:ext cx="6256583" cy="339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F4F2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5687" y="3976191"/>
            <a:ext cx="16176624" cy="9525"/>
          </a:xfrm>
          <a:prstGeom prst="rect">
            <a:avLst/>
          </a:prstGeom>
          <a:solidFill>
            <a:srgbClr val="15161A">
              <a:alpha val="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398587" y="3363615"/>
            <a:ext cx="903361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Postura con mejor tasa de victorias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834911" y="3363615"/>
            <a:ext cx="625658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6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(~74%)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055687" y="4844355"/>
            <a:ext cx="16176624" cy="9525"/>
          </a:xfrm>
          <a:prstGeom prst="rect">
            <a:avLst/>
          </a:prstGeom>
          <a:solidFill>
            <a:srgbClr val="15161A">
              <a:alpha val="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398587" y="4231779"/>
            <a:ext cx="903361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victorias general (Orthodox)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0834911" y="4231779"/>
            <a:ext cx="625658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055687" y="5712519"/>
            <a:ext cx="16176624" cy="9525"/>
          </a:xfrm>
          <a:prstGeom prst="rect">
            <a:avLst/>
          </a:prstGeom>
          <a:solidFill>
            <a:srgbClr val="15161A">
              <a:alpha val="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398587" y="5099943"/>
            <a:ext cx="903361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peso – alcance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0834911" y="5099943"/>
            <a:ext cx="625658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Creciente y lineal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055687" y="6580683"/>
            <a:ext cx="16176624" cy="9525"/>
          </a:xfrm>
          <a:prstGeom prst="rect">
            <a:avLst/>
          </a:prstGeom>
          <a:solidFill>
            <a:srgbClr val="15161A">
              <a:alpha val="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1398587" y="5968107"/>
            <a:ext cx="903361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de golpeo más común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0834911" y="5968107"/>
            <a:ext cx="625658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– 55%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398587" y="6836271"/>
            <a:ext cx="903361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de victoria más frecuente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0834911" y="6836271"/>
            <a:ext cx="6256583" cy="403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/ TKO (~21%)</a:t>
            </a:r>
            <a:endParaRPr lang="en-US" sz="21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41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RESPUESTA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30275"/>
            <a:ext cx="17811750" cy="6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75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382368"/>
            <a:ext cx="838200" cy="5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33575" y="4382368"/>
            <a:ext cx="14272455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versatilidad ayuda, la postura por sí sola importa poco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133575" y="4847456"/>
            <a:ext cx="14272455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peleadores Switch ganan algo más (~74%), aunque la diferencia con Orthodox y Southpaw es moderada.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50" y="5533181"/>
            <a:ext cx="838200" cy="5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133575" y="5533181"/>
            <a:ext cx="11932890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peso predice el alcance de forma clara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133575" y="5998269"/>
            <a:ext cx="1193289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relación creciente y estable: un patrón físico sólido confirmado por el gráfico de líneas.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6683995"/>
            <a:ext cx="838200" cy="5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C41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133575" y="6683995"/>
            <a:ext cx="14207108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 estilo de golpeo ganador único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133575" y="7149083"/>
            <a:ext cx="14207108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5C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y precisión no se correlacionan y las posturas se mezclan: el éxito depende del peleador individual.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983</Words>
  <Application>Microsoft Macintosh PowerPoint</Application>
  <PresentationFormat>Personalizado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BALTAZAR MORAN HERRERA</cp:lastModifiedBy>
  <cp:revision>3</cp:revision>
  <dcterms:created xsi:type="dcterms:W3CDTF">2026-06-29T03:50:22Z</dcterms:created>
  <dcterms:modified xsi:type="dcterms:W3CDTF">2026-06-29T04:01:31Z</dcterms:modified>
</cp:coreProperties>
</file>